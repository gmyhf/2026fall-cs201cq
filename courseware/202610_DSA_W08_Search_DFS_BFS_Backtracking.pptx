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第8周　搜索专题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DFS / BFS · 回溯与剪枝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重庆人工智能学院　《数据结构与算法》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教学要求：掌握 DFS/BFS 回溯搜索的实现与剪枝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搜索的统一视角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任何搜索问题都是在一棵【解空间树】上行走
结点 = 状态，边 = 一次决策，叶子 = 完整解或死路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DFS vs BFS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3878"/>
                <a:gridCol w="4464344"/>
                <a:gridCol w="4189616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DFS 深度优先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BFS 广度优先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数据结构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栈（递归）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队列 deque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走法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一条路走到黑，再回头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一层一层扩展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空间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O(深度)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O(该层宽度)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擅长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求所有解、路径枚举、连通性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⭐ 最短步数、层级信息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第一个找到的解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不保证最短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⭐ 保证最短（边权全为 1）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同一棵解空间树的两种遍历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888742"/>
            <a:ext cx="11057839" cy="16840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  起点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  /  |  \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 A    B    C          DFS: 起点 A D E B ...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 / \        |          BFS: 起点 A B C D E ...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    D   E      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1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DFS 深度优先搜索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DFS 递归框架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58254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3813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dfs(state):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is_goal(state):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record(state)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nxt in next_states(state):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not visited(nxt):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mark(nxt)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dfs(nxt)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unmark(nxt)        # 回溯时撤销（若需要）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OJ 18160 最大连通域面积（八连通）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37388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1727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import sys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sys.setrecursionlimit(1 &lt;&lt; 20)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DIRS8 = [(-1, -1), (-1, 0), (-1, 1),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(0, -1),           (0, 1),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(1, -1),  (1, 0),  (1, 1)]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dfs(grid, i, j, n, m):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not (0 &lt;= i &lt; n and 0 &lt;= j &lt; m) or grid[i][j] != 'W':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 0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grid[i][j] = '.'                    # ⭐ 就地标记，省一个 visited 数组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area =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di, dj in DIRS8: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area += dfs(grid, i + di, j + dj, n, m)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79120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四连通版本只需换成 DIRS4 = [(-1,0),(1,0),(0,-1),(0,1)]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迭代式 DFS（避免爆栈）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60616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4049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dfs_iter(grid, si, sj, n, m):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stack = [(si, sj)]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grid[si][sj] = '.'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area = 0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while stack: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i, j = stack.pop()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area +=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for di, dj in DIRS8: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ni, nj = i + di, j + dj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if 0 &lt;= ni &lt; n and 0 &lt;= nj &lt; m and grid[ni][nj] == 'W':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grid[ni][nj] = '.'      # ⚠️ 入栈时就标记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stack.append((ni, nj))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348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⚠️ 标记时机：入栈/入队时立刻标记，否则同一格子会被重复压入，退化成指数级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2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BFS 广度优先搜索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BFS 标准框架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62978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42861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from collections import deque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bfs(start, is_goal, neighbors):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q = deque([start])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visited = {start}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dist = {start: 0}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while q: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cur = q.popleft()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is_goal(cur):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return dist[cur]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for nxt in neighbors(cur):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if nxt not in visited: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visited.add(nxt)          # ⚠️ 入队时标记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dist[nxt] = dist[cur] + 1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q.append(nxt)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OJ 19930 寻宝：网格最短路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from collections import deque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DIRS4 = [(-1, 0), (1, 0), (0, -1), (0, 1)]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m, n = map(int, input().split())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grid = [list(map(int, input().split())) for _ in range(m)]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q = deque([(0, 0, 0)])              # (行, 列, 步数)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grid[0][0] = 0                      # 就地标记为已访问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ans = -1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while q: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i, j, d = q.popleft()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for di, dj in DIRS4: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ni, nj = i + di, j + dj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if 0 &lt;= ni &lt; m and 0 &lt;= nj &lt; n and grid[ni][nj] != 0: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    if grid[ni][nj] == 2: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        ans = d + 1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        q.clear(); break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    grid[ni][nj] = 0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            q.append((ni, nj, d + 1))</a:t>
            </a:r>
          </a:p>
          <a:p>
            <a:pPr algn="l">
              <a:lnSpc>
                <a:spcPts val="1805"/>
              </a:lnSpc>
              <a:spcBef>
                <a:spcPts val="0"/>
              </a:spcBef>
              <a:spcAft>
                <a:spcPts val="0"/>
              </a:spcAft>
            </a:pPr>
            <a:r>
              <a:rPr sz="1388" b="0" i="0">
                <a:solidFill>
                  <a:srgbClr val="242A33"/>
                </a:solidFill>
                <a:latin typeface="Consolas"/>
                <a:ea typeface="Consolas"/>
              </a:rPr>
              <a:t>print(ans if ans &gt;= 0 else "NO")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分层 BFS 与多源 BFS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86207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6609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分层：需要知道"当前在第几层"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while q: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_ in range(len(q)):         # ⭐ 固定住本层的大小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cur = q.popleft()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...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level +=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多源（LC 542 01 矩阵）：所有源点一起入队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for i in range(m):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j in range(n):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mat[i][j] == 0: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dist[i][j] = 0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q.append((i, j))        # 一次 BFS 求"到最近源点的距离"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27939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相关题：LC 994 腐烂的橘子（多源 + 分层）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OJ 28046 词梯：状态空间 BFS + 建桶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3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from collections import deque, defaultdict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def word_ladder(begin, end, word_list):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words = set(word_list)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# ⭐ 建"桶"：hot -&gt; _ot, h_t, ho_  加速找相邻单词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buckets = defaultdict(list)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for w in words | {begin}: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for i in range(len(w)):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buckets[w[:i] + '_' + w[i + 1:]].append(w)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q = deque([(begin, 1)])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visited = {begin}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while q: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w, d = q.popleft()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if w == end: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return d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for i in range(len(w)):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for nxt in buckets[w[:i] + '_' + w[i + 1:]]: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    if nxt not in visited: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        visited.add(nxt)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        q.append((nxt, d + 1))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return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3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建桶把"两两比较是否只差一个字母"从 O(N²L) 降到 O(NL) —— 本题的关键优化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双向 BFS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从起点和终点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同时 BFS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，相遇即停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搜索树规模从 O(b^d) 降到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O(b^(d/2))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指数级加速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实现要点：每次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扩展较小的一侧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（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if len(front) &gt; len(back): swap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适用：起点终点都已知、分支因子较大的状态空间（如八数码、单词接龙）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3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回溯法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回溯三步框架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做选择 → 递归 → 撤销选择
结果要【深拷贝】：res.append(path[:])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回溯通用模板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83845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6372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def backtrack(path, choices):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is_solution(path):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result.append(path[:])         # ⚠️ 必须拷贝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return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choice in choices: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if not is_valid(choice, path):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continue                    # 剪枝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path.append(choice)             # 做选择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backtrack(path, next_choices)   # 递归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path.pop()                      # 撤销选择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LC 78 子集 / LC 39 组合总和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242A33"/>
                </a:solidFill>
                <a:latin typeface="Consolas"/>
                <a:ea typeface="Consolas"/>
              </a:rPr>
              <a:t>def subsets(nums):</a:t>
            </a:r>
          </a:p>
          <a:p>
            <a:pPr algn="l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242A33"/>
                </a:solidFill>
                <a:latin typeface="Consolas"/>
                <a:ea typeface="Consolas"/>
              </a:rPr>
              <a:t>    res, path = [], []</a:t>
            </a:r>
          </a:p>
          <a:p>
            <a:pPr algn="l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242A33"/>
                </a:solidFill>
                <a:latin typeface="Consolas"/>
                <a:ea typeface="Consolas"/>
              </a:rPr>
              <a:t>    def dfs(start):</a:t>
            </a:r>
          </a:p>
          <a:p>
            <a:pPr algn="l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242A33"/>
                </a:solidFill>
                <a:latin typeface="Consolas"/>
                <a:ea typeface="Consolas"/>
              </a:rPr>
              <a:t>        res.append(path[:])</a:t>
            </a:r>
          </a:p>
          <a:p>
            <a:pPr algn="l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242A33"/>
                </a:solidFill>
                <a:latin typeface="Consolas"/>
                <a:ea typeface="Consolas"/>
              </a:rPr>
              <a:t>        for i in range(start, len(nums)):</a:t>
            </a:r>
          </a:p>
          <a:p>
            <a:pPr algn="l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242A33"/>
                </a:solidFill>
                <a:latin typeface="Consolas"/>
                <a:ea typeface="Consolas"/>
              </a:rPr>
              <a:t>            path.append(nums[i])</a:t>
            </a:r>
          </a:p>
          <a:p>
            <a:pPr algn="l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242A33"/>
                </a:solidFill>
                <a:latin typeface="Consolas"/>
                <a:ea typeface="Consolas"/>
              </a:rPr>
              <a:t>            dfs(i + 1)</a:t>
            </a:r>
          </a:p>
          <a:p>
            <a:pPr algn="l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242A33"/>
                </a:solidFill>
                <a:latin typeface="Consolas"/>
                <a:ea typeface="Consolas"/>
              </a:rPr>
              <a:t>            path.pop()</a:t>
            </a:r>
          </a:p>
          <a:p>
            <a:pPr algn="l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242A33"/>
                </a:solidFill>
                <a:latin typeface="Consolas"/>
                <a:ea typeface="Consolas"/>
              </a:rPr>
              <a:t>    dfs(0)</a:t>
            </a:r>
          </a:p>
          <a:p>
            <a:pPr algn="l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242A33"/>
                </a:solidFill>
                <a:latin typeface="Consolas"/>
                <a:ea typeface="Consolas"/>
              </a:rPr>
              <a:t>    return res</a:t>
            </a:r>
          </a:p>
          <a:p>
            <a:pPr algn="l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242A33"/>
                </a:solidFill>
                <a:latin typeface="Consolas"/>
                <a:ea typeface="Consolas"/>
              </a:rPr>
              <a:t>def combination_sum(candidates, target):</a:t>
            </a:r>
          </a:p>
          <a:p>
            <a:pPr algn="l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242A33"/>
                </a:solidFill>
                <a:latin typeface="Consolas"/>
                <a:ea typeface="Consolas"/>
              </a:rPr>
              <a:t>    candidates.sort()</a:t>
            </a:r>
          </a:p>
          <a:p>
            <a:pPr algn="l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242A33"/>
                </a:solidFill>
                <a:latin typeface="Consolas"/>
                <a:ea typeface="Consolas"/>
              </a:rPr>
              <a:t>    res, path = [], []</a:t>
            </a:r>
          </a:p>
          <a:p>
            <a:pPr algn="l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242A33"/>
                </a:solidFill>
                <a:latin typeface="Consolas"/>
                <a:ea typeface="Consolas"/>
              </a:rPr>
              <a:t>    def dfs(start, remain):</a:t>
            </a:r>
          </a:p>
          <a:p>
            <a:pPr algn="l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242A33"/>
                </a:solidFill>
                <a:latin typeface="Consolas"/>
                <a:ea typeface="Consolas"/>
              </a:rPr>
              <a:t>        if remain == 0:</a:t>
            </a:r>
          </a:p>
          <a:p>
            <a:pPr algn="l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242A33"/>
                </a:solidFill>
                <a:latin typeface="Consolas"/>
                <a:ea typeface="Consolas"/>
              </a:rPr>
              <a:t>            res.append(path[:]); return</a:t>
            </a:r>
          </a:p>
          <a:p>
            <a:pPr algn="l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242A33"/>
                </a:solidFill>
                <a:latin typeface="Consolas"/>
                <a:ea typeface="Consolas"/>
              </a:rPr>
              <a:t>        for i in range(start, len(candidates)):</a:t>
            </a:r>
          </a:p>
          <a:p>
            <a:pPr algn="l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242A33"/>
                </a:solidFill>
                <a:latin typeface="Consolas"/>
                <a:ea typeface="Consolas"/>
              </a:rPr>
              <a:t>            if candidates[i] &gt; remain:</a:t>
            </a:r>
          </a:p>
          <a:p>
            <a:pPr algn="l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242A33"/>
                </a:solidFill>
                <a:latin typeface="Consolas"/>
                <a:ea typeface="Consolas"/>
              </a:rPr>
              <a:t>                break                   # ⭐ 排序后剪枝</a:t>
            </a:r>
          </a:p>
          <a:p>
            <a:pPr algn="l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242A33"/>
                </a:solidFill>
                <a:latin typeface="Consolas"/>
                <a:ea typeface="Consolas"/>
              </a:rPr>
              <a:t>            path.append(candidates[i])</a:t>
            </a:r>
          </a:p>
          <a:p>
            <a:pPr algn="l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242A33"/>
                </a:solidFill>
                <a:latin typeface="Consolas"/>
                <a:ea typeface="Consolas"/>
              </a:rPr>
              <a:t>            dfs(i, remain - candidates[i])    # 可重复用 -&gt; 传 i</a:t>
            </a:r>
          </a:p>
          <a:p>
            <a:pPr algn="l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242A33"/>
                </a:solidFill>
                <a:latin typeface="Consolas"/>
                <a:ea typeface="Consolas"/>
              </a:rPr>
              <a:t>            path.pop()</a:t>
            </a:r>
          </a:p>
          <a:p>
            <a:pPr algn="l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242A33"/>
                </a:solidFill>
                <a:latin typeface="Consolas"/>
                <a:ea typeface="Consolas"/>
              </a:rPr>
              <a:t>    dfs(0, target)</a:t>
            </a:r>
          </a:p>
          <a:p>
            <a:pPr algn="l">
              <a:lnSpc>
                <a:spcPts val="1203"/>
              </a:lnSpc>
              <a:spcBef>
                <a:spcPts val="0"/>
              </a:spcBef>
              <a:spcAft>
                <a:spcPts val="0"/>
              </a:spcAft>
            </a:pPr>
            <a:r>
              <a:rPr sz="925" b="0" i="0">
                <a:solidFill>
                  <a:srgbClr val="242A33"/>
                </a:solidFill>
                <a:latin typeface="Consolas"/>
                <a:ea typeface="Consolas"/>
              </a:rPr>
              <a:t>    return 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去重口诀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排序后，同一层中相同的值只取第一个
if i &gt; start and a[i] == a[i-1]: continue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LC 47 全排列 II（含去重）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def permute_unique(nums):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nums.sort()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res, path = [], []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used = [False] * len(nums)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def dfs():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    if len(path) == len(nums):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        res.append(path[:]); return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    for i, v in enumerate(nums):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        if used[i]: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            continue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        if i &gt; 0 and nums[i] == nums[i - 1] and not used[i - 1]: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            continue                # ⭐ 同层去重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        used[i] = True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        path.append(v)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        dfs()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        path.pop()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        used[i] = False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dfs()</a:t>
            </a:r>
          </a:p>
          <a:p>
            <a:pPr algn="l">
              <a:lnSpc>
                <a:spcPts val="1719"/>
              </a:lnSpc>
              <a:spcBef>
                <a:spcPts val="0"/>
              </a:spcBef>
              <a:spcAft>
                <a:spcPts val="0"/>
              </a:spcAft>
            </a:pPr>
            <a:r>
              <a:rPr sz="1322" b="0" i="0">
                <a:solidFill>
                  <a:srgbClr val="242A33"/>
                </a:solidFill>
                <a:latin typeface="Consolas"/>
                <a:ea typeface="Consolas"/>
              </a:rPr>
              <a:t>    return 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OJ 02754 八皇后：O(1) 冲突检测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3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def solve_n_queens(n):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res = []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cols = [0] * n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used_col = [False] * n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used_diag1 = [False] * (2 * n)    # r - c + n  主对角线 ↘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used_diag2 = [False] * (2 * n)    # r + c      副对角线 ↙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def dfs(r):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if r == n: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res.append(cols[:]); return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for c in range(n):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if used_col[c] or used_diag1[r - c + n] or used_diag2[r + c]: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    continue                       # ⭐ O(1) 冲突检测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cols[r] = c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used_col[c] = used_diag1[r-c+n] = used_diag2[r+c] = True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dfs(r + 1)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        used_col[c] = used_diag1[r-c+n] = used_diag2[r+c] = False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dfs(0)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   return res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096" b="0" i="0">
                <a:solidFill>
                  <a:srgbClr val="242A33"/>
                </a:solidFill>
                <a:latin typeface="Consolas"/>
                <a:ea typeface="Consolas"/>
              </a:rPr>
              <a:t>print(len(solve_n_queens(8)))       # 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3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同一主对角线上 r−c 相同，同一副对角线上 r+c 相同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OJ 04123 马走日：回溯计数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663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MOVES = [(1, 2), (2, 1), (2, -1), (1, -2),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 (-1, -2), (-2, -1), (-2, 1), (-1, 2)]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def count_tours(n, m, x, y):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visited = [[False] * m for _ in range(n)]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visited[x][y] = True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total = 0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def dfs(i, j, cnt):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nonlocal total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if cnt == n * m: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    total += 1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    return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for di, dj in MOVES: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    ni, nj = i + di, j + dj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    if 0 &lt;= ni &lt; n and 0 &lt;= nj &lt; m and not visited[ni][nj]: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        visited[ni][nj] = True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        dfs(ni, nj, cnt + 1)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            visited[ni][nj] = False      # ⭐ 回溯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dfs(x, y, 1)</a:t>
            </a:r>
          </a:p>
          <a:p>
            <a:pPr algn="l">
              <a:lnSpc>
                <a:spcPts val="1641"/>
              </a:lnSpc>
              <a:spcBef>
                <a:spcPts val="0"/>
              </a:spcBef>
              <a:spcAft>
                <a:spcPts val="0"/>
              </a:spcAft>
            </a:pPr>
            <a:r>
              <a:rPr sz="1262" b="0" i="0">
                <a:solidFill>
                  <a:srgbClr val="242A33"/>
                </a:solidFill>
                <a:latin typeface="Consolas"/>
                <a:ea typeface="Consolas"/>
              </a:rPr>
              <a:t>    return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OJ 28050 骑士周游：Warnsdorff 启发式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n = 8 时朴素回溯的搜索规模是天文数字，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必须剪枝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Warnsdorff 规则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：每次优先走“后继可选步数最少”的格子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nxts.sort(key=lambda p: degree(*p))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这一行把近乎不可完成的搜索变成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近乎线性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⭐ 剪枝技巧总结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51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3080"/>
                <a:gridCol w="5049241"/>
                <a:gridCol w="4325516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类型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做法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例子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可行性剪枝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当前状态已不可能合法，立即返回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remain &lt; 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最优性剪枝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当前代价已 ≥ 已知最优解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分支限界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排序剪枝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先排序，遇到不满足即 break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candidates[i] &gt; remain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去重剪枝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同层相同元素只取一次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40 / 47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对称性剪枝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利用对称只搜一半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N 皇后第一行只搜前 n/2 列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记忆化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缓存已算过的状态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记忆化搜索 = DP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启发式排序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优先扩展更有希望的分支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Warnsdorff、数独 MRV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96011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一个好的剪枝往往带来指数级加速，比换语言、抠常数有效得多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DFS vs BFS：怎么选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307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2133"/>
                <a:gridCol w="6165705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需求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选择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求最短步数（边权都是 1）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BFS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求所有解 / 方案数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DFS + 回溯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判断连通性 / 求连通块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都行，DFS 代码更短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状态空间巨大、只要一个解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DFS 或双向 BFS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递归深度可能很大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BFS 或迭代式 DFS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有权图最短路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都不行 → Dijkstra（第 13 周）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本周作业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395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1655"/>
                <a:gridCol w="3785701"/>
                <a:gridCol w="2798127"/>
                <a:gridCol w="3112355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#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平台 / 编号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考点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最大连通域面积 / 岛屿数量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18160 / LC 200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网格 DFS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寻宝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19930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网格 BFS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01 矩阵 / 腐烂的橘子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542 / 994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多源 BFS、分层 BFS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词梯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28046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状态空间 BFS + 建桶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全排列 II / 组合总和 II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LC 47 / 40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回溯去重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八皇后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02754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回溯 + O(1) 冲突检测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7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马走日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04123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回溯计数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8（选做）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骑士周游 / 解数独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OJ 28050 / LC 37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启发式剪枝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本讲小结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搜索 = 在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解空间树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上遍历；DFS 用栈，BFS 用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deque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⚠️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入队 / 入栈时立刻标记 visited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，否则会重复扩展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BFS 求无权图最短路；DFS + 回溯求所有解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回溯三步：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做选择 → 递归 → 撤销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；结果要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深拷贝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剪枝是搜索的灵魂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：可行性、最优性、去重、对称性、启发式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下周预告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：第一个非线性结构 —— 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第8周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