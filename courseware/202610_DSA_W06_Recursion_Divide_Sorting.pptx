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703320"/>
            <a:ext cx="12191695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103120"/>
            <a:ext cx="11057839" cy="1554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</a:rPr>
              <a:t>第6周　递归、分治与排序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C7D3E2"/>
                </a:solidFill>
                <a:latin typeface="Segoe UI"/>
                <a:ea typeface="微软雅黑"/>
              </a:rPr>
              <a:t>递归三要素 · 分治框架 · 五大排序与性能对比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160520"/>
            <a:ext cx="11057839" cy="1463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重庆人工智能学院　《数据结构与算法》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教学要求：掌握递归思想；掌握分治策略在排序中的应用；能进行算法性能对比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本讲内容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09"/>
              </a:spcAft>
            </a:pPr>
            <a:r>
              <a:rPr sz="1950" b="1" i="0">
                <a:solidFill>
                  <a:srgbClr val="12395B"/>
                </a:solidFill>
                <a:latin typeface="Segoe UI"/>
                <a:ea typeface="微软雅黑"/>
              </a:rPr>
              <a:t>▍ 递归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70"/>
              </a:spcAft>
            </a:pPr>
            <a:r>
              <a:rPr sz="1598" b="0" i="0">
                <a:solidFill>
                  <a:srgbClr val="6B7582"/>
                </a:solidFill>
                <a:latin typeface="Segoe UI"/>
                <a:ea typeface="微软雅黑"/>
              </a:rPr>
              <a:t>·  三要素、调用栈、重复子问题与记忆化、汉诺塔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09"/>
              </a:spcAft>
            </a:pPr>
            <a:r>
              <a:rPr sz="1950" b="1" i="0">
                <a:solidFill>
                  <a:srgbClr val="12395B"/>
                </a:solidFill>
                <a:latin typeface="Segoe UI"/>
                <a:ea typeface="微软雅黑"/>
              </a:rPr>
              <a:t>▍ 分治法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70"/>
              </a:spcAft>
            </a:pPr>
            <a:r>
              <a:rPr sz="1598" b="0" i="0">
                <a:solidFill>
                  <a:srgbClr val="6B7582"/>
                </a:solidFill>
                <a:latin typeface="Segoe UI"/>
                <a:ea typeface="微软雅黑"/>
              </a:rPr>
              <a:t>·  Divide / Conquer / Combine 三步框架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09"/>
              </a:spcAft>
            </a:pPr>
            <a:r>
              <a:rPr sz="1950" b="1" i="0">
                <a:solidFill>
                  <a:srgbClr val="12395B"/>
                </a:solidFill>
                <a:latin typeface="Segoe UI"/>
                <a:ea typeface="微软雅黑"/>
              </a:rPr>
              <a:t>▍ 五大排序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70"/>
              </a:spcAft>
            </a:pPr>
            <a:r>
              <a:rPr sz="1598" b="0" i="0">
                <a:solidFill>
                  <a:srgbClr val="6B7582"/>
                </a:solidFill>
                <a:latin typeface="Segoe UI"/>
                <a:ea typeface="微软雅黑"/>
              </a:rPr>
              <a:t>·  冒泡、选择、插入、归并、快排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09"/>
              </a:spcAft>
            </a:pPr>
            <a:r>
              <a:rPr sz="1950" b="1" i="0">
                <a:solidFill>
                  <a:srgbClr val="12395B"/>
                </a:solidFill>
                <a:latin typeface="Segoe UI"/>
                <a:ea typeface="微软雅黑"/>
              </a:rPr>
              <a:t>▍ 性能对比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70"/>
              </a:spcAft>
            </a:pPr>
            <a:r>
              <a:rPr sz="1598" b="0" i="0">
                <a:solidFill>
                  <a:srgbClr val="6B7582"/>
                </a:solidFill>
                <a:latin typeface="Segoe UI"/>
                <a:ea typeface="微软雅黑"/>
              </a:rPr>
              <a:t>·  稳定性、最坏情况、Timsort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09"/>
              </a:spcAft>
            </a:pPr>
            <a:r>
              <a:rPr sz="1950" b="1" i="0">
                <a:solidFill>
                  <a:srgbClr val="12395B"/>
                </a:solidFill>
                <a:latin typeface="Segoe UI"/>
                <a:ea typeface="微软雅黑"/>
              </a:rPr>
              <a:t>▍ 经典应用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70"/>
              </a:spcAft>
            </a:pPr>
            <a:r>
              <a:rPr sz="1598" b="0" i="0">
                <a:solidFill>
                  <a:srgbClr val="6B7582"/>
                </a:solidFill>
                <a:latin typeface="Segoe UI"/>
                <a:ea typeface="微软雅黑"/>
              </a:rPr>
              <a:t>·  逆序对、快速选择、三路划分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1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递归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递归三要素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基线条件（base case）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：能直接求解的最小问题，必须存在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递归条件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：把问题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规模缩小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后调用自身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收敛性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：每次调用都必须朝基线条件逼近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⚠️ 三者缺一，程序就会无限递归直到爆栈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factorial(4) 的调用栈展开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187067"/>
            <a:ext cx="11057839" cy="308737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factorial(4)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└ 4 * factorial(3)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└ 3 * factorial(2)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       └ 2 * factorial(1)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              └ 1              &lt;- 基线，开始回溯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       &lt;- 2*1 = 2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&lt;- 3*2 = 6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&lt;- 4*6 = 24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递归深度 = 栈帧数 = 空间复杂度 O(n)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递归的代价：重复子问题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117090"/>
            <a:ext cx="11057839" cy="2806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        fib(5)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    /            \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fib(4)            fib(3)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/     \           /     \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fib(3)  fib(2)   fib(2)  fib(1)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/   \    /  \     /  \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fib(2) f(1) f(1) f(0) f(1) f(0)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fib(2) 被算了 3 次，fib(3) 被算了 2 次  -&gt;  O(2^n)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888736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朴素 def fib(n): return n if n&lt;2 else fib(n-1)+fib(n-2) 是指数级的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第6周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记忆化：把 O(2ⁿ) 降到 O(n)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1814830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16136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from functools import lru_cache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@lru_cache(maxsize=None)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def fib(n):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return n if n &lt; 2 else fib(n - 1) + fib(n - 2)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23215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⭐ 记忆化递归 = 自顶向下的动态规划（第 7 周）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经典例题：汉诺塔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3350260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31490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def hanoi(n, src, aux, dst, moves):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if n == 0: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return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hanoi(n - 1, src, dst, aux, moves)      # 上面 n-1 个挪到 aux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moves.append((n, src, dst))             # 最大的挪到 dst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hanoi(n - 1, aux, src, dst, moves)      # n-1 个从 aux 挪到 dst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n = int(input())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moves = []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hanoi(n, 'A', 'B', 'C', moves)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print(len(moves))                            # 2^n - 1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76758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T(n) = 2T(n-1) + 1 ⇒ 2ⁿ−1，指数级不可避免（输出本身就有 2ⁿ−1 行）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其他递归练习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373880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1727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def gcd(a, b):                        # 欧几里得，O(log min(a,b))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return a if b == 0 else gcd(b, a % b)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def power(a, n):                      # 快速幂，O(log n)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if n == 0: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return 1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half = power(a, n // 2)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return half * half if n % 2 == 0 else half * half * a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def sum_nested(lst):                  # 嵌套列表求和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total = 0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for x in lst: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total += sum_nested(x) if isinstance(x, list) else x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return total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第6周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2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分治法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Divide / Conquer / Combine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187067"/>
            <a:ext cx="11057839" cy="308737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         problem(n)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        /          \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problem(n/2)     problem(n/2)      &lt;- Divide  分解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    |                 |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  solve             solve          &lt;- Conquer 递归求解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     \               /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      \             /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       combine  O(f(n))            &lt;- Combine 合并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复杂度递归式：  T(n) = a·T(n/b) + f(n)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常见递归式的解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7" cy="2636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98524"/>
                <a:gridCol w="2427868"/>
                <a:gridCol w="3531445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递归式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解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算法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T(n) = T(n/2) + O(1)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O(log n)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二分查找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T(n) = 2T(n/2) + O(n)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 log n)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归并排序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T(n) = 2T(n/2) + O(1)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二叉树遍历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T(n) = T(n/2) + O(n)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快速选择（平均）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T(n) = 2T(n-1) + O(1)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O(2ⁿ)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汉诺塔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分治 vs 动态规划的分水岭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子问题是否【重叠】
归并排序的两半互不相干（分治）；斐波那契共享大量子问题（DP）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3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五大排序算法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冒泡排序 O(n²)：相邻比较，大的往后冒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309435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289318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def bubble_sort(a):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n = len(a)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for i in range(n - 1):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swapped = False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for j in range(n - 1 - i):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if a[j] &gt; a[j + 1]: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    a[j], a[j + 1] = a[j + 1], a[j]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    swapped = True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if not swapped:        # 优化：已有序则提前退出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break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return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11675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最好 O(n)（已有序 + 提前退出），平均/最坏 O(n²)；空间 O(1)，稳定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选择排序 O(n²)：每轮选最小放到已排序段末尾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258254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238137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def selection_sort(a):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n = len(a)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for i in range(n - 1):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min_idx = i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for j in range(i + 1, n):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if a[j] &lt; a[min_idx]: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    min_idx = j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a[i], a[min_idx] = a[min_idx], a[i]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return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999865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时间恒为 O(n²)（与输入无关），但交换次数只有 O(n)；不稳定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插入排序 O(n²)：像整理扑克牌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258254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238137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def insertion_sort(a):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for i in range(1, len(a)):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key = a[i]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j = i - 1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while j &gt;= 0 and a[j] &gt; key: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a[j + 1] = a[j]      # 后移腾位置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j -= 1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a[j + 1] = key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return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999865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⭐ 最好 O(n)（已有序）；小数组上常数极小，是 Timsort 与快排的收尾手段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归并排序 O(n log n)：分治的典范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def merge_sort(a):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if len(a) &lt;= 1: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    return a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mid = len(a) // 2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left = merge_sort(a[:mid])            # Divide + Conquer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right = merge_sort(a[mid:])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return merge(left, right)             # Combine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def merge(left, right):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res = []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i = j = 0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while i &lt; len(left) and j &lt; len(right):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    if left[i] &lt;= right[j]:           # &lt;= 保证稳定性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        res.append(left[i]); i += 1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    else: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        res.append(right[j]); j += 1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res.extend(left[i:])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res.extend(right[j:])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return 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稳定、复杂度有保证、可外部排序；代价是 O(n) 额外空间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⭐ 归并的经典应用：求逆序对（OJ 02299）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11797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391680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def sort_count(a):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if len(a) &lt;= 1: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return a, 0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mid = len(a) // 2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left, cl = sort_count(a[:mid])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right, cr = sort_count(a[mid:])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merged, i, j, cnt = [], 0, 0, cl + cr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while i &lt; len(left) and j &lt; len(right):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if left[i] &lt;= right[j]: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merged.append(left[i]); i += 1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else: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merged.append(right[j]); j += 1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cnt += len(left) - i          # ⭐ 关键一行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merged.extend(left[i:]); merged.extend(right[j:])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return merged, cnt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535295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从右半取走一个元素时，左半剩余的所有元素都与它构成逆序对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快速排序：原地 Lomuto 划分 + 随机枢轴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import random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def partition(a, lo, hi):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r = random.randint(lo, hi)          # ⭐ 随机化，规避有序数据的最坏情况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a[r], a[hi] = a[hi], a[r]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pivot = a[hi]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i = lo - 1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for j in range(lo, hi):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if a[j] &lt;= pivot: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    i += 1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    a[i], a[j] = a[j], a[i]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a[i + 1], a[hi] = a[hi], a[i + 1]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return i + 1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def quick_sort(a, lo=0, hi=None):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if hi is None: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hi = len(a) - 1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if lo &lt; hi: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p = partition(a, lo, hi)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quick_sort(a, lo, p - 1)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quick_sort(a, p + 1, hi)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return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平均 O(n log n)，最坏 O(n²)；空间 O(log n)，不稳定；常数最小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快速选择：求第 k 小，平均 O(n)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309435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289318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def quick_select(a, k):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"""返回第 k 小（k 从 1 开始）。只递归一侧。"""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lo, hi = 0, len(a) - 1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while True: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p = partition(a, lo, hi)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if p == k - 1: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return a[p]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if p &lt; k - 1: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lo = p + 1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else: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hi = p - 1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11675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T(n) = T(n/2) + O(n) = O(n)　—— LC 215 数组中的第 K 个最大元素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4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排序算法性能对比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⭐ 七种排序对比（必背）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7" cy="3515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30496"/>
                <a:gridCol w="2104433"/>
                <a:gridCol w="2104433"/>
                <a:gridCol w="2104433"/>
                <a:gridCol w="1683546"/>
                <a:gridCol w="1530496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算法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最好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平均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最坏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空间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稳定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冒泡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O(n²)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O(n²)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O(1)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✅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选择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O(n²)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O(n²)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O(n²)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O(1)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❌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插入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O(n²)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O(n²)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O(1)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✅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希尔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 log n)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~O(n^1.3)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O(n²)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O(1)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❌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归并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 log n)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 log n)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 log n)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✅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快排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 log n)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 log n)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⚠️ O(n²)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O(log n)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❌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堆排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 log n)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 log n)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 log n)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O(1)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❌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稳定性为什么重要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稳定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：相等元素排序前后相对次序不变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多关键字排序依赖稳定性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：按次关键字排完，再按主关键字排即可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Python 的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sort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/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sorted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是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稳定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的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students.sort(key=lambda s: s[0])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然后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students.sort(key=lambda s: -s[1])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结果：按分数降序，同分者按名字升序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Python 内建排序：Timsort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list.sort()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/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sorted()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使用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Timsort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归并 + 插入排序的混合体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识别数据中已有序的 run，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近似有序的数据接近 O(n)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稳定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，最坏 O(n log n)，且用 C 实现，常数远小于手写 Python 排序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⭐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OJ 实战准则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：除非题目要求手写，一律用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sorted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/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.sort()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性能对比实验（本周实验必做）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360616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340499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import random, time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for n in (1000, 2000, 4000, 8000):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rnd = [random.randint(0, 10 ** 6) for _ in range(n)]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srt = sorted(rnd)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rev = srt[::-1]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for name, fn in [('bubble', bubble_sort), ('insertion', insertion_sort),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         ('merge', merge_sort), ('quick', quick_sort),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         ('builtin', sorted)]: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for tag, data in (('random', rnd), ('sorted', srt), ('rev', rev)):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t0 = time.perf_counter()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fn(data[:])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print(f"n={n} {name:10s} {tag:7s} {time.perf_counter()-t0:.4f}s")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023485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需解释的现象：插入排序在已排序数据上为何快？归并为何三种输入耗时一致？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LC 75 颜色分类：荷兰国旗（三路划分）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309435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289318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def sort_colors(nums):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lo, i, hi = 0, 0, len(nums) - 1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while i &lt;= hi: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if nums[i] == 0: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nums[lo], nums[i] = nums[i], nums[lo]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lo += 1; i += 1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elif nums[i] == 2: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nums[hi], nums[i] = nums[i], nums[hi]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hi -= 1                    # 换来的元素还没检查，i 不动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else: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i +=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11675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一趟 O(n)，原地 O(1)。大量重复元素时，三路划分能显著加速快排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LC 23 合并 K 个升序链表：分治两两归并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2838450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263728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def merge_k_lists(lists):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if not lists: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return None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while len(lists) &gt; 1: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merged = []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for i in range(0, len(lists), 2):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b = lists[i + 1] if i + 1 &lt; len(lists) else None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merged.append(merge2(lists[i], b))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lists = merged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return lists[0]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25577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T(n) = 2T(n/2) + O(n) ⇒ O(N log k)；逐个归并则是 O(Nk)，慢得多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本周作业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6" cy="3515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6576"/>
                <a:gridCol w="4367548"/>
                <a:gridCol w="2243331"/>
                <a:gridCol w="2640381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#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题目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平台 / 编号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考点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汉诺塔问题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OJ 04147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递归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2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Ultra-QuickSort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OJ 02299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归并求逆序对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3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数组中的第K个最大元素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LC 215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快速选择 / 堆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4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合并K个升序链表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LC 23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分治归并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5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颜色分类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LC 75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三路划分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6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排序链表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LC 148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链表归并排序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7（选做）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最大子数组和（分治版）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LC 53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分治框架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4960112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实验三：完成性能对比实验并提交含图表的实验报告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第6周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本讲小结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递归三要素：基线条件、递归条件、收敛；空间代价是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调用栈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重复子问题用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记忆化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消除 —— 通向动态规划的桥梁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分治三步：Divide / Conquer / Combine；用递归式 T(n)=aT(n/b)+f(n) 分析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归并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稳定可求逆序对；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快排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常数最小但需随机化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下周预告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：两大算法设计范式 —— 贪心与动态规划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