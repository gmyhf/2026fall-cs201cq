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</a:rPr>
              <a:t>第14周　最小生成树与拓扑排序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7D3E2"/>
                </a:solidFill>
                <a:latin typeface="Segoe UI"/>
                <a:ea typeface="微软雅黑"/>
              </a:rPr>
              <a:t>Prim · Kruskal · Kahn 算法 · DAG 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60520"/>
            <a:ext cx="11057839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重庆人工智能学院　《数据结构与算法》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教学要求：掌握 MST 算法；理解拓扑排序的原理与实现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第一部分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最小生成树（MST）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生成树与最小生成树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976755"/>
            <a:ext cx="11057839" cy="30873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图 G                     一棵 MST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A --1-- B                A --1-- B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|\      |                |       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4 \3    2       ==&gt;      |       2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|   \   |                |       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C --5-- D                C       D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            \___3___/     总权 = 1+2+3 = 6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生成树：包含全部 n 个顶点、n−1 条边、无环的极小连通子图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MST：所有生成树中边权之和最小的那棵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应用：铺设网络/管道的最低成本、聚类分析、图像分割、TSP 近似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第14周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割性质（Cut Property）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把顶点集任意划分为 (S, V−S)，跨越这个割的所有边中，
权值最小的边一定属于某棵 MST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第14周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割性质的证明（交换论证）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设最小横切边 e 不在 MST T 中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把 e 加入 T 会形成一个环，环中必有另一条横切边 f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由 e 是最小横切边，w(f) ≥ w(e)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用 e 替换 f 得到的仍是生成树，且权值不增　∎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⭐ 这是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Prim 和 Kruskal 都正确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的根本原因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第14周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环性质与唯一性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环性质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：任意环中权值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最大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的边一定不在某棵 MST 中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若所有边权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互不相同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，MST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唯一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若有相同权值的边，MST 可能不唯一，但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权值和唯一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第14周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1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Prim 算法：从点出发生长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⚠️ Prim 与 Dijkstra 的唯一实质差别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Dijkstra 比较的是「从源点出发的总距离 dist[u] + w」
Prim 比较的是「到集合的单条边权 w」　—— 代码只差一个加号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第14周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Prim 堆优化（推荐）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import heapq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def prim(graph, n, start=0):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"""graph[u] = [(v, w), ...]，返回 (MST 总权值, 边列表)。O(E log V)。"""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visited = [False] * n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pq = [(0, start, -1)]          # (边权, 到达的点, 来自的点)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total, edges = 0, []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while pq and len(edges) &lt; n - 1: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w, u, frm = heapq.heappop(pq)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if visited[u]: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    continue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visited[u] = True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if frm != -1: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    total += w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    edges.append((frm, u, w))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for v, wt in graph[u]: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    if not visited[v]: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        heapq.heappush(pq, (wt, v, u))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return (total, edges) if len(edges) == n - 1 else (-1, [])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第14周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朴素 Prim O(V²)：稠密图更优（OJ 01258 Agri-Net）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def prim_dense(matrix, n):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INF = float('inf')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lowcost = [INF] * n           # lowcost[v] = v 到已选集合的最小边权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lowcost[0] = 0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visited = [False] * n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total = 0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for _ in range(n):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u, best = -1, INF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for i in range(n):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    if not visited[i] and lowcost[i] &lt; best: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        u, best = i, lowcost[i]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if u == -1: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    return -1              # 不连通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visited[u] = True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total += best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for v in range(n):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    if not visited[v] and matrix[u][v] &lt; lowcost[v]: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        lowcost[v] = matrix[u][v]      # ⭐ 与 Dijkstra 的唯一区别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return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Agri-Net 是完全图（E = V²），用 O(V²) 版本最合适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第14周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2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Kruskal 算法：从边出发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思想：排序 + 并查集判环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把所有边按权值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升序排序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依次考察每条边：若两端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不在同一连通块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就选它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否则丢弃（选了会形成环）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⭐ 用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并查集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（第 11 周）O(α) 判断是否同一连通块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第14周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Kruskal 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35026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1490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kruskal(edges, n):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"""edges = [(w, u, v), ...]，O(E log E)，瓶颈在排序。"""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edges.sort()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dsu = DSU(n)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total, chosen = 0, []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w, u, v in edges: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dsu.union(u, v):            # ⭐ 不成环则选它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total += w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chosen.append((u, v, w))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if len(chosen) == n - 1:   # 已有 n-1 条边，提前结束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break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(total, chosen) if len(chosen) == n - 1 else (-1, [])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76758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OJ 05442 兔子与星空的模板解法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第14周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Prim vs Kruskal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307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4483"/>
                <a:gridCol w="4623412"/>
                <a:gridCol w="4729942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Prim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Kruskal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出发点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顶点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边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数据结构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优先队列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排序 + 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并查集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复杂度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O(E log V) / O(V²)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O(E log E)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适合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稠密图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（用 O(V²) 版）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稀疏图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中间状态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始终是一棵树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是一片森林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不连通图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只得到一个连通分量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⭐ 天然得到最小生成森林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第14周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MST 就是瓶颈生成树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58254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3813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bottleneck(edges, n, src, dst):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"""最小化 src 到 dst 路径上的最大边权。"""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edges.sort()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dsu = DSU(n)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w, u, v in edges: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dsu.union(u, v)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dsu.find(src) == dsu.find(dst):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return w               # 最后加的那条边就是答案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99986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第 13 周用「二分答案 + BFS」O(E log W) 做的题，这里 O(E log E) 一遍就过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第14周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MST 的其他变形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最大生成树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：边权取负后跑 Kruskal，或排序改为降序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次小生成树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最小度限制生成树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Steiner 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竞赛内容，了解即可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课程要求：熟练掌握 Prim 与 Kruskal 两套模板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第14周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第二部分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拓扑排序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把“依赖关系”变成“可执行顺序”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8407"/>
            <a:ext cx="11057839" cy="19646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课程先修关系                    拓扑序（不唯一）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数学 --&gt; 算法 --&gt; AI            数学, 编程, 算法, 数据结构, AI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\             /               编程, 数学, 算法, 数据结构, AI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编程 --&gt; 数据结构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对每条有向边 u -&gt; v，u 都排在 v 前面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第14周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存在性与唯一性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有向图存在拓扑序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⟺ 它是 DAG（无环）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拓扑序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一般不唯一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当且仅当每一步都恰有一个入度为 0 的点时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唯一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（即存在哈密顿路径）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应用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：课程安排、任务调度、编译依赖（Makefile）、软件包安装、DAG 上的 DP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第14周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Kahn 算法（BFS 入度法）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① 统计所有顶点的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入度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② 把入度为 0 的顶点全部入队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③ 取出 u 加入结果，把它的出边“删掉”（邻居入度减 1），减到 0 就入队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④ 若结果中顶点数 &lt; n，说明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有环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第14周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Kahn 算法模板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from collections import deque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def topo_sort_kahn(graph, n):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"""graph[u] = [v, ...]。返回拓扑序；有环时返回 None。O(V+E)。"""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indeg = [0] * n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for u in range(n):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for v in graph[u]: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indeg[v] += 1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q = deque(u for u in range(n) if indeg[u] == 0)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order = []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while q: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u = q.popleft()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order.append(u)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for v in graph[u]: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indeg[v] -= 1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if indeg[v] == 0: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    q.append(v)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return order if len(order) == n else None      # 长度不足 -&gt; 有环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OJ 09202 舰队、海域出击！：cnt &lt; n 即为有环。LC 207/210 课程表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第14周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字典序最小的拓扑序：队列换成小根堆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import heapq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def topo_sort_lexicographic(graph, n):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indeg = [0] * n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for u in range(n):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    for v in graph[u]: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        indeg[v] += 1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h = [u for u in range(n) if indeg[u] == 0]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heapq.heapify(h)                             # ⭐ 换成堆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order = []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while h: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    u = heapq.heappop(h)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    order.append(u)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    for v in graph[u]: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        indeg[v] -= 1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        if indeg[v] == 0: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            heapq.heappush(h, v)</a:t>
            </a:r>
          </a:p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327" b="0" i="0">
                <a:solidFill>
                  <a:srgbClr val="242A33"/>
                </a:solidFill>
                <a:latin typeface="Consolas"/>
                <a:ea typeface="Consolas"/>
              </a:rPr>
              <a:t>    return order if len(order) == n else None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复杂度 O((V+E) log 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第14周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DFS 逆后序法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def topo_sort_dfs(graph, n):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WHITE, GRAY, BLACK = 0, 1, 2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color = [WHITE] * n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order = []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def dfs(u):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    color[u] = GRAY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    for v in graph[u]: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        if color[v] == GRAY: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            return False           # 后向边 -&gt; 有环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        if color[v] == WHITE and not dfs(v):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            return False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    color[u] = BLACK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    order.append(u)                # 后序压入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    return True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for u in range(n):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    if color[u] == WHITE and not dfs(u):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        return None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return order[::-1]                 # ⭐ 逆序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第14周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Kahn vs DFS 逆后序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219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7828"/>
                <a:gridCol w="3469873"/>
                <a:gridCol w="5300136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Kahn (BFS)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DFS 逆后序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判环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结果长度 &lt; n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遇到 GRAY 结点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求字典序最小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⭐ 容易（换堆即可）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困难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递归深度风险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无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有（需 setrecursionlimit）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推荐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⭐ 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首选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需与 SCC 结合时用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第14周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第三部分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DAG 上的动态规划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为什么 DAG 适合 DP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拓扑序保证了「计算一个点时，它的所有前驱都已算完」
这正是 DP 需要的【无后效性】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第14周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DAG 最长路：O(V+E)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def dag_longest_path(graph, n):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"""graph[u] = [(v, w), ...]"""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order = topo_sort_kahn([[v for v, _ in graph[u]] for u in range(n)], n)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if order is None: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raise ValueError("图中有环")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dp = [0] * n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for u in order:                   # ⭐ 按拓扑序处理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for v, w in graph[u]: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    dp[v] = max(dp[v], dp[u] + w)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return max(dp)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def count_paths(graph, n, src, dst):      # DAG 路径计数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order = topo_sort_kahn(graph, n)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cnt = [0] * n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cnt[src] = 1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for u in order: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for v in graph[u]: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        cnt[v] += cnt[u]</a:t>
            </a:r>
          </a:p>
          <a:p>
            <a:pPr algn="l">
              <a:lnSpc>
                <a:spcPts val="1639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242A33"/>
                </a:solidFill>
                <a:latin typeface="Consolas"/>
                <a:ea typeface="Consolas"/>
              </a:rPr>
              <a:t>    return cnt[dst]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⚠️ 一般图的最长路是 NP-hard，但 DAG 上的最长路是线性的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第14周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记忆化搜索版：无需显式拓扑排序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542" b="0" i="0">
                <a:solidFill>
                  <a:srgbClr val="242A33"/>
                </a:solidFill>
                <a:latin typeface="Consolas"/>
                <a:ea typeface="Consolas"/>
              </a:rPr>
              <a:t>from functools import lru_cache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542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542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542" b="0" i="0">
                <a:solidFill>
                  <a:srgbClr val="242A33"/>
                </a:solidFill>
                <a:latin typeface="Consolas"/>
                <a:ea typeface="Consolas"/>
              </a:rPr>
              <a:t>def longest_increasing_path(matrix):      # LC 329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542" b="0" i="0">
                <a:solidFill>
                  <a:srgbClr val="242A33"/>
                </a:solidFill>
                <a:latin typeface="Consolas"/>
                <a:ea typeface="Consolas"/>
              </a:rPr>
              <a:t>    """矩阵中"从小到大"的移动关系天然构成 DAG。"""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542" b="0" i="0">
                <a:solidFill>
                  <a:srgbClr val="242A33"/>
                </a:solidFill>
                <a:latin typeface="Consolas"/>
                <a:ea typeface="Consolas"/>
              </a:rPr>
              <a:t>    m, n = len(matrix), len(matrix[0])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542" b="0" i="0">
                <a:solidFill>
                  <a:srgbClr val="242A33"/>
                </a:solidFill>
                <a:latin typeface="Consolas"/>
                <a:ea typeface="Consolas"/>
              </a:rPr>
              <a:t>    DIRS = [(-1, 0), (1, 0), (0, -1), (0, 1)]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542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542" b="0" i="0">
                <a:solidFill>
                  <a:srgbClr val="242A33"/>
                </a:solidFill>
                <a:latin typeface="Consolas"/>
                <a:ea typeface="Consolas"/>
              </a:rPr>
              <a:t>    @lru_cache(maxsize=None)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542" b="0" i="0">
                <a:solidFill>
                  <a:srgbClr val="242A33"/>
                </a:solidFill>
                <a:latin typeface="Consolas"/>
                <a:ea typeface="Consolas"/>
              </a:rPr>
              <a:t>    def dfs(i, j):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542" b="0" i="0">
                <a:solidFill>
                  <a:srgbClr val="242A33"/>
                </a:solidFill>
                <a:latin typeface="Consolas"/>
                <a:ea typeface="Consolas"/>
              </a:rPr>
              <a:t>        best = 1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542" b="0" i="0">
                <a:solidFill>
                  <a:srgbClr val="242A33"/>
                </a:solidFill>
                <a:latin typeface="Consolas"/>
                <a:ea typeface="Consolas"/>
              </a:rPr>
              <a:t>        for di, dj in DIRS: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542" b="0" i="0">
                <a:solidFill>
                  <a:srgbClr val="242A33"/>
                </a:solidFill>
                <a:latin typeface="Consolas"/>
                <a:ea typeface="Consolas"/>
              </a:rPr>
              <a:t>            ni, nj = i + di, j + dj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542" b="0" i="0">
                <a:solidFill>
                  <a:srgbClr val="242A33"/>
                </a:solidFill>
                <a:latin typeface="Consolas"/>
                <a:ea typeface="Consolas"/>
              </a:rPr>
              <a:t>            if 0 &lt;= ni &lt; m and 0 &lt;= nj &lt; n and matrix[ni][nj] &gt; matrix[i][j]: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542" b="0" i="0">
                <a:solidFill>
                  <a:srgbClr val="242A33"/>
                </a:solidFill>
                <a:latin typeface="Consolas"/>
                <a:ea typeface="Consolas"/>
              </a:rPr>
              <a:t>                best = max(best, 1 + dfs(ni, nj))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542" b="0" i="0">
                <a:solidFill>
                  <a:srgbClr val="242A33"/>
                </a:solidFill>
                <a:latin typeface="Consolas"/>
                <a:ea typeface="Consolas"/>
              </a:rPr>
              <a:t>        return best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542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542" b="0" i="0">
                <a:solidFill>
                  <a:srgbClr val="242A33"/>
                </a:solidFill>
                <a:latin typeface="Consolas"/>
                <a:ea typeface="Consolas"/>
              </a:rPr>
              <a:t>    return max(dfs(i, j) for i in range(m) for j in range(n))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第14周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关键路径（AOE 网）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def critical_path(graph, n, src, dst):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"""ve[i]=事件最早发生时间；vl[i]=最迟发生时间。"""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order = topo_sort_kahn(...)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ve = [0] * n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for u in order:                              # 正推最早时间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for v, w in graph[u]: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ve[v] = max(ve[v], ve[u] + w)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total = ve[dst]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vl = [total] * n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for u in reversed(order):                    # 逆推最迟时间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for v, w in graph[u]: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vl[u] = min(vl[u], vl[v] - w)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critical = [(u, v, w) for u in range(n) for v, w in graph[u]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    if ve[u] == vl[v] - w]           # 时间余量为 0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return total, critical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关键路径 = 源点到汇点的【最长路径】，决定整个工程的最短工期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第14周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本周作业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6" cy="3954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500"/>
                <a:gridCol w="4390171"/>
                <a:gridCol w="2382379"/>
                <a:gridCol w="2921786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#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题目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平台 / 编号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考点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Agri-Net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01258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朴素 Prim（稠密图）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兔子与星空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05442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Kruskal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连接所有点的最小费用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1584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MST 建模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最低成本联通所有城市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1135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Kruskal 模板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舰队、海域出击！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09202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Kahn 判环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6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课程表 II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210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拓扑排序输出序列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7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矩阵中的最长递增路径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329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DAG + 记忆化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8（选做）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找到最终的安全状态 / 关键路径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802 / 课堂题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反图拓扑、AOE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39953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实验七：在同一批随机图上实测 Prim(堆) / Prim(朴素) / Kruskal，验证稀疏稠密的经验法则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第14周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本讲小结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MST 的理论基础是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割性质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：最小横切边一定属于某棵 MST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Prim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从点生长（优先队列），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Kruskal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从边选取（排序 + 并查集）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MST 同时也是瓶颈生成树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让“最小化最大边权”类问题有了优雅解法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拓扑排序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只对 DAG 存在；Kahn 算法 O(V+E)，顺便判环，换堆即得字典序最小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DAG 的拓扑序提供 DP 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无后效性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：最长路、路径计数、关键路径都是线性的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下周预告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：散列表、KMP，以及倒排索引 →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第14周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