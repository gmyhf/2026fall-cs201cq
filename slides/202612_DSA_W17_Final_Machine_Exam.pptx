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03320"/>
            <a:ext cx="12191695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103120"/>
            <a:ext cx="11057839" cy="1554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</a:rPr>
              <a:t>第17周　期末上机考试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C7D3E2"/>
                </a:solidFill>
                <a:latin typeface="Segoe UI"/>
                <a:ea typeface="微软雅黑"/>
              </a:rPr>
              <a:t>命题方案 · 样卷 6 题 · 备选题库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160520"/>
            <a:ext cx="11057839" cy="1463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8B8CC"/>
                </a:solidFill>
                <a:latin typeface="Segoe UI"/>
                <a:ea typeface="微软雅黑"/>
              </a:rPr>
              <a:t>重庆人工智能学院　《数据结构与算法》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8B8CC"/>
                </a:solidFill>
                <a:latin typeface="Segoe UI"/>
                <a:ea typeface="微软雅黑"/>
              </a:rPr>
              <a:t>教学要求：综合运用所学解决算法问题　|　占总评 60%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8B8CC"/>
                </a:solidFill>
                <a:latin typeface="Segoe UI"/>
                <a:ea typeface="微软雅黑"/>
              </a:rPr>
              <a:t>本课件面向教师（命题）与学生（考前说明）两类读者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1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考试须知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考试形式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8" cy="351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8265"/>
                <a:gridCol w="9329573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项目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规定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时长 / 题量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120 分钟 / 6 道</a:t>
                      </a: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算法编程题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总分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100 分（T1–T4 各 15 分，T5、T6 各 20 分）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平台 / 语言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OJ 在线评测 / Python 3 为主，允许 C++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环境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考试专用机房，</a:t>
                      </a: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断开外网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允许携带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一页 A4 双面手写 cheat sheet</a:t>
                      </a: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（不得打印）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禁止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⚠️ </a:t>
                      </a: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任何 AI 工具</a:t>
                      </a: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（含本地模型、IDE 智能补全插件）、联网、交流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学术诚信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无法解释自己提交代码者按学术不端处理</a:t>
                      </a: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，成绩记 0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第17周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考查的五项能力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问题抽象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：把文字描述翻译成数据结构模型（最常见的失分点）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算法选择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：根据数据范围选出复杂度可行的算法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代码实现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：无 AI 辅助下正确、快速地写出可运行代码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边界处理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：n=0/1、多组数据、重边自环、不连通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调试能力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：读懂 WA / TLE 反馈并定位问题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第17周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2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命题方案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知识点覆盖矩阵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7" cy="3954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0294"/>
                <a:gridCol w="1620196"/>
                <a:gridCol w="1741710"/>
                <a:gridCol w="5265637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大类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周次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本卷覆盖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具体考点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基础与复杂度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W2–W3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T1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哈希表、前缀和、复杂度判断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线性结构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W4–W5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T2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栈 / 队列 / 单调栈 / 链表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排序与分治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W6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T3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排序、二分、贪心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贪心与 DP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W7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T5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线性 DP / 背包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搜索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W8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T4 或 T6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BFS / DFS / 回溯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树与堆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W9–W11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T4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遍历、建树、堆、并查集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图论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W12–W14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T6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最短路 / MST / 拓扑排序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字符串与哈希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W15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T1 备选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KMP / Trie / 倒排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5399532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保证覆盖至少 5 个大类，且线性结构、树、图、DP 各至少 1 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第17周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难度梯度设计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538095"/>
            <a:ext cx="11057839" cy="196469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T1  ★☆☆☆☆   签到题，90% 学生应 AC        —— 保证及格线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T2  ★★☆☆☆   基础数据结构应用，70% AC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T3  ★★★☆☆   需要一次转化，55% AC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T4  ★★★☆☆   树 / 堆综合，45% AC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T5  ★★★★☆   DP，状态设计有难度，30% AC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T6  ★★★★★   图论综合 / 建模，15% AC       —— 区分优秀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888736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前 3 题保证认真听讲、完成作业的学生能拿 45–50 分；后 3 题拉开区分度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第17周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成绩对应关系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084831"/>
            <a:ext cx="1105783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84831"/>
            <a:ext cx="82296" cy="2286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377440"/>
            <a:ext cx="10051999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2395B"/>
                </a:solidFill>
                <a:latin typeface="Segoe UI"/>
                <a:ea typeface="微软雅黑"/>
              </a:rPr>
              <a:t>AC 5–6 题 → 优秀　　AC 4 题 → 良好　　AC 2–3 题 → 及格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第17周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3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建议样卷（6 题）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样卷一览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5" cy="3075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9011"/>
                <a:gridCol w="2598023"/>
                <a:gridCol w="4562779"/>
                <a:gridCol w="1299011"/>
                <a:gridCol w="1299011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题号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标题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考点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难度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分值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T1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课程签到统计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哈希表、排序（W2/W3/W15）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★☆☆☆☆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15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T2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表达式求值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栈、调度场算法（W4）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★★☆☆☆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15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T3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最小化最大装载量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二分答案 + 贪心（W3/W6/W7）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★★★☆☆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15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T4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树的重构与查询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建树、遍历、树高（W9）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★★★☆☆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15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T5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装箱方案数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完全背包、方案计数（W7）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★★★★☆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20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T6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城市网络维护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MST + 并查集（W11/W14）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★★★★★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20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第17周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T1　课程签到统计（15 分）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题面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：n 条签到记录（学生姓名），统计每人次数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按签到次数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从多到少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输出；次数相同时按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姓名字典序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从小到大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数据范围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：n ≤ 2×10⁵，姓名长度 ≤ 20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解法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Counter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+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sorted(key=lambda x: (-x[1], x[0]))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，O(n log n)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卡时数据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：n = 2×10⁵ 随机 1000 个姓名 —— 卡掉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list.count()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的 O(n²)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常见错误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：多关键字排序写反；用 list 统计导致 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第17周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T1 参考解答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3606165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340499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import sys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from collections import Counter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main():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data = sys.stdin.read().split()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n = int(data[0])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cnt = Counter(data[1:1 + n])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items = sorted(cnt.items(), key=lambda x: (-x[1], x[0]))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sys.stdout.write('\n'.join(f"{name} {c}" for name, c in items) + '\n')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main()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023485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样例：6 条记录 alice/bob/alice/carol/bob/alice → alice 3 / bob 2 / carol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第17周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T2　表达式求值（15 分）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题面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：求含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+ - * /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与圆括号的中缀表达式的值，整数除法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向零取整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数据范围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：T ≤ 100 个表达式，每个长度 ≤ 1000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解法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：tokenize → 调度场转后缀 → 后缀求值，O(总长度)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卡时/卡错数据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：多层嵌套括号；连续减法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10-3-2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（测左结合）；负数除法；大量空格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分档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：仅含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+ *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的子任务给 8 分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常见错误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：左结合写成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&gt;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导致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10-3-2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算错；用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//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导致负数结果错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第17周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T3　最小化最大装载量（15 分）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题面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：n 个货物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按原顺序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分成恰好 k 组（连续段），使最重一组最轻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数据范围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：k ≤ n ≤ 10⁵，wᵢ ≤ 10⁴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解法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：二分答案 + 贪心验证，O(n log Σw)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二分区间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lo = max(w)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hi = sum(w)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边界数据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：k = 1（答案 = 总和）、k = n（答案 = 最大值）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常见错误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：二分下界写成 0 导致死循环；判定条件方向写反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第17周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T3 参考解答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443983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2428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def main():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data = sys.stdin.read().split()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n, k = int(data[0]), int(data[1])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w = [int(x) for x in data[2:2 + n]]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def groups_needed(limit):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    """每组和不超过 limit 时，贪心最少需要多少组。"""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    cnt, cur = 1, 0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    for x in w: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        if cur + x &gt; limit: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            cnt += 1; cur = x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        else: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            cur += x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    return cnt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lo, hi = max(w), sum(w)          # ⭐ 下界是 max(w)，不是 0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while lo &lt; hi: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    mid = (lo + hi) // 2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    if groups_needed(mid) &lt;= k: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        hi = mid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    else: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        lo = mid + 1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print(lo)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861303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样例：n=5 k=2, w=[1,2,3,4,5] → 9（分成 [1,2,3] 与 [4,5]）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第17周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T4　树的重构与查询（15 分）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题面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：给定前序 + 中序，输出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后序遍历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、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树高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、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叶结点个数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数据范围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：n ≤ 10⁵，结点值互不相同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解法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：哈希表定位根 + 递归建树，边建边统计，O(n)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⚠️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卡时数据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链状树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（前序 = 中序 = 1..n）—— 测递归深度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⚠️ 卡掉每层用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ino.index()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的 O(n²) 写法与切片建树的 O(n²) 空间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兜底写法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threading.stack_size(1&lt;&lt;26)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+ 大栈线程，防 C 栈溢出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第17周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T4 参考解答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6634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def main():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   sys.setrecursionlimit(1 &lt;&lt; 20)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   data = sys.stdin.read().split()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   n = int(data[0])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   pre = [int(x) for x in data[1:1 + n]]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   ino = [int(x) for x in data[1 + n:1 + 2 * n]]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   pos = {v: i for i, v in enumerate(ino)}    # ⭐ O(1) 定位根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   post, it, leaves = [], iter(pre), 0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   def build(lo, hi):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       nonlocal leaves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       if lo &gt; hi: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           return 0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       val = next(it); mid = pos[val]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       hl = build(lo, mid - 1)               # ⚠️ 必须先左后右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       hr = build(mid + 1, hi)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       post.append(val)                       # 左右都完了再记 -&gt; 后序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       if hl == 0 and hr == 0: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           leaves += 1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       return 1 + max(hl, hr)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   height = build(0, n - 1)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   print(' '.join(map(str, post))); print(height); print(leaves)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第17周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T5　装箱方案数（20 分）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题面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：n 种物品体积 vᵢ，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数量无限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，求恰好装满容量 C 的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方案数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（不计顺序），模 10⁹+7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数据范围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：n ≤ 100，C ≤ 10⁴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解法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：完全背包求组合数，O(nC)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⭐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两个关键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：外层枚举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物品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（组合数）+ 容量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正序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（完全背包）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陷阱数据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：n=2, C=3, v=[1,2] —— 组合数为 2，排列数为 3，可区分写错循环顺序的提交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分档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：C ≤ 100 给 10 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第17周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T5 参考解答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3862070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36609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MOD = 10 ** 9 + 7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main():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data = sys.stdin.read().split()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n, C = int(data[0]), int(data[1])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v = [int(x) for x in data[2:2 + n]]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dp = [0] * (C + 1)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dp[0] = 1                          # 容量 0 有 1 种方案：什么都不装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for vi in v:                       # ⚠️ 外层枚举物品 -&gt; 组合数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for c in range(vi, C + 1):     # ⚠️ 完全背包 -&gt; 容量正序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dp[c] = (dp[c] + dp[c - vi]) % MOD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print(dp[C])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27939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样例：n=3 C=5, v=[1,2,5] → 4　（1×5 / 1×3+2 / 1+2×2 / 5）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第17周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T6　城市网络维护（20 分）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题面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：n 城市、m 条候选光缆，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前 k 条已建成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（免费）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求让所有城市连通的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最小新增造价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；无法连通输出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impossible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数据范围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：n ≤ 10⁵，m ≤ 2×10⁵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⭐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核心思想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：已建成的线路 =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造价为 0 的边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，先无条件合并，再跑 Kruskal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边界数据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：k=0（普通 MST）、k=m（答案 0）、不连通、重边自环、w=0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常见错误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：忘记处理不连通；并查集未优化 TLE；用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input()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读 2×10⁵ 行 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第17周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T6 参考解答（核心部分）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443983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2428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def main():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data = sys.stdin.buffer.read().split()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p = 0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n, m, k = int(data[p]), int(data[p+1]), int(data[p+2]); p += 3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dsu = DSU(n + 1)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dsu.count -= 1                     # 下标 0 不使用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candidates = []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for j in range(m):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    u, v, w = int(data[p]), int(data[p+1]), int(data[p+2]); p += 3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    if j &lt; k: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        dsu.union(u, v)            # ⭐ 已建成：直接合并，不计费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    else: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        candidates.append((w, u, v))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candidates.sort()                  # Kruskal：按造价升序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total = 0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for w, u, v in candidates: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    if dsu.count == 1: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        break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    if dsu.union(u, v):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        total += w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print(total if dsu.count == 1 else "impossible")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861303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样例：n=4 m=5 k=1 → 10（1-2 已建成免费；再选 1-3(3) 与 3-4(7)）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第17周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4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备选题库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线性结构 / 排序与贪心（W4–W7）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7" cy="351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5005"/>
                <a:gridCol w="2287828"/>
                <a:gridCol w="1386562"/>
                <a:gridCol w="2998442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题目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来源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难度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考点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合法出栈序列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OJ 22068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★★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栈模拟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中序转后序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OJ 24591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★★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调度场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每日温度 / 滑动窗口最大值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739 / 239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★★★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单调栈 / 单调队列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柱状图中最大的矩形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84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★★★★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单调栈进阶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Ultra-QuickSort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OJ 02299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★★★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归并求逆序对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无重叠区间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435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★★★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区间贪心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分割数组的最大值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410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★★★★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二分答案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第17周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搜索 / 树与堆（W8–W11）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7" cy="351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806"/>
                <a:gridCol w="3658232"/>
                <a:gridCol w="1219410"/>
                <a:gridCol w="2674389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题目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来源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难度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考点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最大连通域面积 / 寻宝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OJ 18160 / 19930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★★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网格 DFS / BFS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腐烂的橘子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994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★★★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多源 BFS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词梯 / 马走日 / 八皇后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OJ 28046 / 04123 / 02754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★★★~★★★★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搜索 + 剪枝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前中序建树 / 括号嵌套树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OJ 22158 / 24729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★★★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建树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二叉树的直径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543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★★★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树形 DP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数据流的中位数 / 哈夫曼树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295 / OJ 22161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★★★★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对顶堆 / 堆+贪心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宗教信仰 / 虫子的生活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OJ 02524 / 07734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★★~★★★★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并查集 / 带权并查集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第17周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DP / 图论 / 字符串（W7、W12–W15）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6" cy="351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1764"/>
                <a:gridCol w="2581542"/>
                <a:gridCol w="1518554"/>
                <a:gridCol w="2125976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题目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来源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难度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考点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最长递增子序列 / 最长公共子序列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300 / 1143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★★★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LIS / 二维 DP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编辑距离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72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★★★★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二维 DP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分割等和子集 / 零钱兑换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416 / 322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★★★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01 / 完全背包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兔子与樱花 / Subway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OJ 05443 / 02502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★★★★~★★★★★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Dijkstra、建模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Agri-Net / 兔子与星空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OJ 01258 / 05442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★★★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Prim / Kruskal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舰队、海域出击！/ 课程表 II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OJ 09202 / LC 210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★★★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拓扑排序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第一个匹配项 / 重复子字符串 / Trie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28 / 459 / 208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★★★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KMP / 前缀树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第17周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5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给学生的备考建议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一页 A4 cheat sheet 的建议内容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正面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：复杂度速查表 + 数据范围反推表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并查集、Dijkstra、拓扑排序、Kruskal 四大模板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背包四种循环顺序口诀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反面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：二分边界三种写法（bisect_left / bisect_right / 二分答案）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树的三种遍历（递归 + 迭代）、KMP 的 next 数组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常见失分点清单（多组数据、输出格式、递归深度、pop(0)）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第17周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考场流程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748407"/>
            <a:ext cx="11057839" cy="196469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1. 开考先花 8–10 分钟通读 6 题，在草稿纸上写下每题的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【数据范围 → 目标复杂度 → 候选算法】，并按预估难度排序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2. 从最有把握的开始做，先 AC 3 题稳住及格线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3. 每题先跑通样例再提交；WA 后先自查边界（n=1、空输入、多组数据）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4. TLE 后先查是不是 input() / pop(0) / in list，再考虑换算法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5. 剩 10 分钟停止写新题，检查已提交题的输出格式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第17周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三条硬性提醒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084831"/>
            <a:ext cx="1105783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84831"/>
            <a:ext cx="82296" cy="2286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377440"/>
            <a:ext cx="10051999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95B"/>
                </a:solidFill>
                <a:latin typeface="Segoe UI"/>
                <a:ea typeface="微软雅黑"/>
              </a:rPr>
              <a:t>① 不要在第一题上耗超过 20 分钟 —— 它只值 15 分
② 看到 n ≤ 10⁵ 就不要写 O(n²)
③ 提交前通读代码，确认你能向老师解释每一行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第17周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6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命题与阅卷检查清单（教师用）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命题阶段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6 题覆盖至少 5 个知识大类，线性结构 / 树 / 图 / DP 各至少 1 题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每题有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参考程序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并跑通全部数据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⚠️ 每题的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样例说明文字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与参考程序输出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逐字核对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每题有针对错误算法的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卡时数据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（O(n²) 卡 TLE、边界卡 WA）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每题有 n=1 / 空 / 全相同 / 不连通 等边界数据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⚠️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Python 参考程序需在平台时限内留 3 倍以上余量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（Python 比 C++ 慢）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第17周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考试与阅卷阶段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考试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：机房断网，禁用 AI 插件与本地模型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cheat sheet 仅一页 A4 手写，考前统一检查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记录每位学生的提交时间线，供事后核查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阅卷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：按 OJ AC 情况给分，分档题按通过数据点比例给分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⭐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随机抽查 10%–20% 学生进行代码答辩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（无法解释按学术不端处理）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对完全相同的提交做查重比对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第17周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本讲小结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考什么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：W2–W15 的全部主干 —— 栈队列链表、树与堆、图论、DP、搜索、哈希字符串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怎么考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：120 分钟 6 题，难度递进，前 3 题保及格、后 3 题拉区分度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怎么准备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：默写模板 + 限时模拟 + 整理错题本，三者缺一不可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第17周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考试的目的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084831"/>
            <a:ext cx="1105783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84831"/>
            <a:ext cx="82296" cy="2286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377440"/>
            <a:ext cx="10051999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不是筛人，而是逼你把这一学期学到的结构与策略
真正内化成能在压力下调用的能力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第17周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