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第16周　课程总结与复习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知识体系梳理 · 模板代码库 · 上机考试要点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教学要求：系统梳理知识结构；掌握重点算法与数据结构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知识体系总图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766061"/>
            <a:ext cx="11057839" cy="39293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数据结构与算法（CS201）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+----------------+-----------+-----------+----------------+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|                |                       |       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基础工具         线性结构                非线性结构        算法策略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|                |                       |       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W2 ADT/OOP      W4 栈                  W9  树/遍历       W6 递归/分治/排序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W3 复杂度       W5 队列/双端队列        W10 堆/BST        W7 贪心/DP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W5 链表                 W11 AVL/并查集    W8 DFS/BFS/回溯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            W12 图/遍历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            W13 最短路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            W14 MST/拓扑排序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            W15 散列表/KMP/倒排索引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一句话回顾每一周（上）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309"/>
                <a:gridCol w="3938661"/>
                <a:gridCol w="5639867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一句话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最该记住的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ADT 分离接口与实现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list/dict/set 的复杂度差异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大 O 描述增长趋势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看数据范围反推算法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栈是 LIFO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括号匹配、调度场、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单调栈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队列是 FIFO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deque、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单调队列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、链表哨兵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分治与排序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归并求逆序对、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用内建 sorted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W7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贪心要证明，DP 要状态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背包正序/倒序、LIS O(n 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搜索是遍历解空间树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入队时标记 visited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、回溯三步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一句话回顾每一周（下）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055"/>
                <a:gridCol w="3798646"/>
                <a:gridCol w="566813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一句话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最该记住的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树的算法都是递归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前中后序、前序+中序建树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堆是完全二叉树+堆序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heapq、Top-K、对顶堆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平衡与分组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AVL 四种旋转、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并查集模板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图 = 建模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邻接表、连通分量、二分图染色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松弛是共同原子操作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Dijkstra 堆优化模板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割性质与拓扑序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Kruskal = 排序+并查集、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Kahn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哈希与匹配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KMP 的 next 数组、倒排索引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复杂度速查表（必背）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数据结构操作复杂度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231"/>
                <a:gridCol w="2912352"/>
                <a:gridCol w="2578645"/>
                <a:gridCol w="2411792"/>
                <a:gridCol w="1243817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结构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查找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插入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删除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有序遍历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数组 / list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 / O(1) 按下标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尾 O(1)，中 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同左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需先排序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单链表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已知位置 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已知位置 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哈希表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平均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 无序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二叉堆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 任意元素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 仅堆顶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BST（平均）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 中序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AVL / 红黑树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并查集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O(α)≈O(1)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O(α)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 不支持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Trie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 字典序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算法复杂度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8597"/>
                <a:gridCol w="4395567"/>
                <a:gridCol w="1853183"/>
                <a:gridCol w="2450490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算法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时间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空间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前提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二分查找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归并 / 堆排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 / 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快排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平均 O(n log n)，最坏 O(n²)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建议随机化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DFS / BFS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O(V+E)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Dijkstra（堆）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O(E log V)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非负权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Bellman-Ford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O(VE)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可负权、检测负环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Floyd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O(V³)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O(V²)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V ≤ 400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Prim / Kruskal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O(E log V) / O(E log E)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无向图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拓扑排序 / KMP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O(V+E) / O(n+m)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O(V) / O(m)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DAG / —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数据规模 → 算法选择（考场第一步）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393"/>
                <a:gridCol w="3535936"/>
                <a:gridCol w="5807508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n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允许复杂度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典型算法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≤ 12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O(n!)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全排列枚举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≤ 20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O(2ⁿ)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状压 DP、子集枚举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≤ 100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O(n³)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Floyd、区间 DP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≤ 1000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O(n²)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二维 DP、朴素图算法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≤ 10⁵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排序、堆、二分、Dijkstra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≤ 10⁶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双指针、前缀和、单调栈/队列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≥ 10⁸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 /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数学公式、快速幂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必背模板代码库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⚠️ 上机考试禁止使用任何 AI 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这一节的 12 个模板必须能【默写】
考前把它们手抄一遍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① 快速 IO　② 二分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import sys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data = sys.stdin.read().split()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p = 0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n = int(data[p]); p += 1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out = []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sys.stdout.write('\n'.join(out) + '\n')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sys.setrecursionlimit(1 &lt;&lt; 20)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import bisect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i = bisect.bisect_left(a, x)      # 第一个 &gt;= x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j = bisect.bisect_right(a, x)     # 第一个 &gt; x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def binary_answer(lo, hi, check):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"""求满足 check 的最小值。check 需单调。"""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while lo &lt; hi: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mid = (lo + hi) // 2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if check(mid):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hi = mid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lo = mid + 1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return 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③ 单调栈　④ 单调队列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def next_greater(a):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"""每个元素右边第一个更大元素的下标，无则 -1。"""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n = len(a); res = [-1] * n; stack = []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for i, v in enumerate(a):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while stack and a[stack[-1]] &lt; v: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res[stack.pop()] = i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stack.append(i)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def sliding_max(a, k):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dq, res = deque(), []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for i, v in enumerate(a):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while dq and a[dq[-1]] &lt;= v: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dq.pop()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dq.append(i)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if dq[0] &lt;= i - k: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dq.popleft()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if i &gt;= k - 1: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res.append(a[dq[0]])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⑤ 并查集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class DSU: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def __init__(self, n):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self.p = list(range(n)); self.sz = [1] * n; self.count = n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def find(self, x):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r = x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while self.p[r] != r: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r = self.p[r]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while self.p[x] != r: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self.p[x], x = r, self.p[x]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return r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def union(self, x, y):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rx, ry = self.find(x), self.find(y)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if rx == ry: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return False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if self.sz[rx] &lt; self.sz[ry]: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rx, ry = ry, rx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self.p[ry] = rx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self.sz[rx] += self.sz[ry]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self.count -= 1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return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⑥ Dijkstra　⑦ 拓扑排序　⑧ Kruskal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import heapq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def dijkstra(graph, n, src):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INF = float('inf'); dist = [INF] * n; dist[src] = 0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pq = [(0, src)]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while pq: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    d, u = heapq.heappop(pq)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    if d &gt; dist[u]: continue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    for v, w in graph[u]: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        if d + w &lt; dist[v]: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            dist[v] = d + w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            heapq.heappush(pq, (dist[v], v))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return dist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def topo(graph, n):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indeg = [0] * n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for u in range(n):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    for v in graph[u]: indeg[v] += 1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q = deque(u for u in range(n) if indeg[u] == 0); order = []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while q: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    u = q.popleft(); order.append(u)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    for v in graph[u]: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        indeg[v] -= 1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        if indeg[v] == 0: q.append(v)</a:t>
            </a:r>
          </a:p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</a:pPr>
            <a:r>
              <a:rPr sz="1068" b="0" i="0">
                <a:solidFill>
                  <a:srgbClr val="242A33"/>
                </a:solidFill>
                <a:latin typeface="Consolas"/>
                <a:ea typeface="Consolas"/>
              </a:rPr>
              <a:t>    return order if len(order) == n else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⑨ 网格 BFS　⑩ 回溯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DIRS4 = [(-1, 0), (1, 0), (0, -1), (0, 1)]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def grid_bfs(grid, sr, sc):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m, n = len(grid), len(grid[0])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dist = [[-1] * n for _ in range(m)]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dist[sr][sc] = 0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q = deque([(sr, sc)])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while q: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i, j = q.popleft()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for di, dj in DIRS4: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ni, nj = i + di, j + dj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if 0 &lt;= ni &lt; m and 0 &lt;= nj &lt; n and dist[ni][nj] &lt; 0 \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        and grid[ni][nj] != '#':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    dist[ni][nj] = dist[i][j] + 1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    q.append((ni, nj))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return dist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def backtrack():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if len(path) == len(nums):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res.append(path[:]); return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for i, v in enumerate(nums):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if used[i]: continue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if i &gt; 0 and nums[i] == nums[i-1] and not used[i-1]: continue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used[i] = True; path.append(v)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backtrack()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path.pop(); used[i] =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⑪ 背包　⑫ KMP + 迭代中序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# 01 背包：容量倒序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dp = [0] * (C + 1)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for i in range(n):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for c in range(C, w[i] - 1, -1):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dp[c] = max(dp[c], dp[c - w[i]] + v[i])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# 完全背包：容量正序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for i in range(n):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for c in range(w[i], C + 1):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dp[c] = max(dp[c], dp[c - w[i]] + v[i])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def build_next(p):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nxt = [0] * len(p); k = 0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for i in range(1, len(p)):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while k &gt; 0 and p[i] != p[k]: k = nxt[k - 1]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if p[i] == p[k]: k += 1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nxt[i] = k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return nxt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def inorder(root):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res, stack, cur = [], [], root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while cur or stack: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while cur: stack.append(cur); cur = cur.left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cur = stack.pop(); res.append(cur.val); cur = cur.right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常见题型 → 解法映射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看到关键词，首先想到……（上）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0532"/>
                <a:gridCol w="459730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题面关键词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首先想到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“下一个更大 / 更小”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单调栈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“滑动窗口最大值”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单调队列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“第 K 大 / 小”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堆 / 快速选择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“中位数（数据流）”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对顶堆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“最短步数”“最少操作” + 边权为 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BFS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“最短路径” + 带权非负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Dijkstra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“所有点对最短路” + n ≤ 400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Floyd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“最小代价连通所有点”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MST（Prim / Kruskal）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看到关键词，首先想到……（下）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8004"/>
                <a:gridCol w="4449834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题面关键词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首先想到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“是否同一组”“合并集合”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并查集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“先修课”“依赖顺序”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拓扑排序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“所有方案”“排列组合”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回溯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“方案数”“最值” + 选择互相制约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DP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“区间不重叠”“最多安排几个”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贪心（按右端点排序）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“子串匹配”“循环节”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KMP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“前缀”“自动补全”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Trie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“区间和查询”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前缀和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“最大化最小值”“最小化最大值”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二分答案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上机考试要点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考试形式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9438"/>
                <a:gridCol w="8588400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项目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说明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时长 / 题量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120 分钟 / 6 道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算法编程题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平台 / 语言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在线评测 / Python 3（支持 C++）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占比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总评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60%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工具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⚠️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禁止使用任何 AI 工具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学术诚信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无法解释自己提交的代码 → 按学术不端处理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⏱ 时间分配建议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78430"/>
            <a:ext cx="11057839" cy="16840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0–10 min    通读全部 6 题，按预估难度排序，标出"必拿分"的题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10–40 min   拿下 2–3 道简单题（模拟、排序、哈希、基础 DP）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40–90 min   攻中等题（图论、DP、树、搜索）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90–110 min  攻最后 1–2 题；无思路则回头检查已提交题的边界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110–120 min 检查输出格式、多组数据、边界（n = 0 / 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关键策略：先易后难；看数据范围定算法；卡住超过 15 分钟果断换题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⚠️ 高频失分点清单（上）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4915"/>
                <a:gridCol w="5322923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失分点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对策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多组数据没循环读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看清“直到 EOF”或“读到 0 0 结束”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输出格式（大小写、空格、Case #x:）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逐字对照样例输出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浮点输出精度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用 f"{x:.2f}"，别用 round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下标 0-based / 1-based 混淆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建图统一开 n+1 大小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list.pop(0)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做 BFS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一律用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deque.popleft()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x in list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判存在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改用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set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循环里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str +=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改用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''.join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⚠️ 高频失分点清单（下）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7930"/>
                <a:gridCol w="6269908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失分点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对策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递归爆栈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sys.setrecursionlimit(1 &lt;&lt; 20)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Dijkstra 用在负权图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改用 Bellman-Ford / SPFA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01 背包写成正序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记住“01 倒序、完全正序”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BFS 出队时才标记 visited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入队时立即标记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忘记 n=0 / 空输入的边界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提交前先想极端情况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[[0]*m]*n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建二维数组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用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[[0]*m for _ in range(n)]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大量输出逐行 print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攒进列表最后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'\n'.join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一次输出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Python 超时自救清单（按性价比排序）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input()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→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sys.stdin.read().split()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list.pop(0)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→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deque.popleft()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x in list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→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x in set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循环拼接字符串 →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''.join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手写排序 → 内建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sorted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递归 → 迭代 + 显式栈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仍超时 → 检查复杂度是不是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选错了算法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（这才是根因）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考前 7 天计划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259"/>
                <a:gridCol w="9508579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天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内容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D-7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默写第 2 节全部模板，不看讲义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D-6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重刷线性结构 + 排序（W4–W6）错题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D-5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重刷 DP + 贪心（W7），背包再过一遍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D-4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重刷搜索（W8）：BFS / DFS / 回溯各 3 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D-3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重刷树与堆（W9–W11）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D-2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重刷图论（W12–W14）：Dijkstra、MST、拓扑各 2 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D-1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限时模拟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：随机 6 题，严格计时 120 分钟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D-0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只看模板与失分点清单，不做新题，早睡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综合复习题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判断题（考查概念）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堆是完全二叉树，因此中序遍历有序。　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❌ 堆只保证父子有序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快速排序的最坏时间复杂度是 O(n log n)。　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❌ 是 O(n²)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Dijkstra 可以处理有负权边但无负环的图。　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❌ 不能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并查集可以高效支持删除某条边。　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❌ 不支持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前序遍历序列可以唯一确定一棵二叉树。　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❌ 需配合中序或空标记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拓扑排序的结果一定唯一。　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❌ 一般不唯一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AVL 树删除结点最多需要一次旋转。　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❌ 可能 O(log n) 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综合编程题 B：树上打家劫舍（树形 DP）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09435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893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rob_tree(root):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"""给定一棵二叉树，求不相邻结点的最大权值和。"""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dfs(node):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not node: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0, 0                # (选它的最优, 不选它的最优)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l_take, l_skip = dfs(node.left)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r_take, r_skip = dfs(node.right)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take = node.val + l_skip + r_skip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skip = max(l_take, l_skip) + max(r_take, r_skip)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take, skip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max(dfs(root))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1167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其他现场演练题：A 图+堆（Dijkstra）、C 并查集+排序（Kruskal）、D 字符串+哈希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完成一套限时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120 分钟的 6 题模拟卷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（题目由课程组发布）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默写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第 2 节的 12 个模板，交手写扫描件或代码文件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整理个人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错题本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：列出本学期所有 WA/TLE 题目、错因分类、正确做法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本讲小结与寄语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主线：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用什么结构存 → 用什么策略算 → 复杂度是多少 → 能不能过题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数据结构的价值：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用空间换时间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在修改时顺手维护信息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四大算法范式：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分治、贪心、动态规划、搜索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会写代码 ≠ 会算法；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会分析复杂度、会选择结构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才是本课要培养的能力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上机考试考的不是记忆力，而是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在压力下把模板准确快速地组合起来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寄语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你们手写的每一个堆、每一次 BFS、每一张倒排索引，
都真实地运行在今天的搜索引擎与向量数据库里。祝考试顺利。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第16周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