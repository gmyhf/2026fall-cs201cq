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第2周　导论、ADT 与 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Python 基础回顾 · 抽象数据类型 · 面向对象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《数据结构与算法》（48 学时 / 3 学分）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教学要求：掌握数据结构的基本概念与分类；理解 ADT 与具体实现的分离原则；了解 Python 内建数据类型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课程导航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我们要学什么、怎么考、用什么平台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数据结构的基本概念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逻辑结构、存储结构、算法的五个特性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抽象数据类型 ADT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接口与实现的分离原则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Python 基础回顾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内建容器的复杂度特征、常见性能陷阱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面向对象 OOP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封装、继承、多态、魔术方法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0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课程导航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我们要学什么，怎么考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为什么学数据结构与算法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数据怎么存 + 问题怎么算
= 在可接受的时间与空间内解决实际问题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课程定位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Linus Torvalds：“糟糕的程序员关心代码，优秀的程序员关心数据结构及其关系。”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48 学时 = 理论 24 + 实验 12 + 实践 12，第 2–16 周授课，第 17 周上机考试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所有数据结构与算法均给出完整 Python 实现，而非伪代码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先修要求：《计算概论》或《程序设计基础》（Python 或 C++ 基础）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坚持使用 C++ 的同学，课程同样支持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全课程知识地图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17090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数据结构与算法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+---------------------+---------------------+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|                     |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线性结构               非线性结构             算法策略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|                     |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+-----+-----+       +-------+-------+     +-------+--------+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栈  队列  链表      树      图    散列    递归/分治  贪心  DP  搜索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W4   W5    W5     W9-W11  W12-W14  W15      W6       W7   W7   W8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本学期的四条主线：线性结构 → 非线性结构 → 算法策略 → 综合应用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考核方式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562"/>
                <a:gridCol w="1027441"/>
                <a:gridCol w="729483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考核项目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占比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平时作业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OpenJudge / LeetCode 编程题，考查 PEP 8 规范与提交纪律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AI 辅助算法实践小项目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10%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完整项目一个，鼓励用大模型但须声明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期末上机考试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120 分钟 6 题，OJ 平台完成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上机考试禁止使用任何 AI 工具；无法解释自己提交代码者按学术不端处理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数据结构的基本概念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刻画一个数据结构的四个层次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逻辑结构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：数据元素之间的关系，与计算机无关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存储结构（物理结构）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：逻辑结构在内存中的映射方式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运算的定义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：这个结构支持哪些操作 —— 这就是 ADT 的内容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运算的实现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：具体算法与代码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逻辑结构的分类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069"/>
                <a:gridCol w="5548595"/>
                <a:gridCol w="393517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类别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元素间关系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例子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集合结构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除“同属一个集合”外无其他关系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set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一对一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数组、栈、队列、链表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树形结构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一对多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二叉树、堆、字典树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图状结构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多对多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有向图、无向图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存储结构的分类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768"/>
                <a:gridCol w="3345228"/>
                <a:gridCol w="3252305"/>
                <a:gridCol w="29735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存储方式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特点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优点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缺点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顺序存储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元素放在连续地址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随机访问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插入删除需搬移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链式存储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靠指针（引用）相连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已知位置插删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不能随机访问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索引存储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附加索引表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检索快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索引占空间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散列存储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由关键字算出地址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平均 O(1) 查找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需处理冲突、无序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同一个逻辑结构可以有多种存储结构 —— 线性表既能用顺序表也能用链表实现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算法的五个特性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：有限步内结束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确定性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：每一步含义明确，无歧义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可行性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：每一步都能由基本运算完成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：零个或多个；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：一个或多个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评价顺序：正确性 → 可读性 → 健壮性 → 时间/空间效率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抽象数据类型（ADT）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接口与实现的分离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ADT：只说“能做什么”，不说“怎么做”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38095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使用者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+------v-------+   &lt;-- 接口（ADT）：push / pop / peek / is_empty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   抽象屏障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+------v-------+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具体实现       &lt;-- 数组？链表？使用者不需要知道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信息隐藏（information hiding）：使用者只需记住接口，实现者可自由替换内部表示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例：栈 ADT 的接口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0582"/>
                <a:gridCol w="540725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语义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Stack()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创建空栈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push(item)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压入栈顶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pop()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弹出并返回栈顶元素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peek()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返回栈顶元素但不弹出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is_empty() / size()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是否为空 / 元素个数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同一接口，两种实现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class StackByList: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"""用 list 尾部作为栈顶：push/pop 均摊 O(1)。"""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self._items = []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push(self, item):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self._items.append(item)          # O(1)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pop(self):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self._items.pop()          # O(1)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class StackByHead: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"""错误示范：用 list 头部作为栈顶。"""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push(self, item):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self._items.insert(0, item)       # O(n)：要搬移所有元素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pop(self):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self._items.pop(0)         #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接口完全一样，都能做括号匹配；但 n = 10⁵ 时第二个会超时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本课程的核心主题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接口相同，效率可以差出一个数量级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Python 基础回顾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内建容器速查（务必记住）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05"/>
                <a:gridCol w="966805"/>
                <a:gridCol w="966805"/>
                <a:gridCol w="815742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可变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有序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关键操作复杂度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list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索引 O(1)；尾部 append/pop 均摊 O(1)；insert(0,x) O(n)；in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tuple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索引 O(1)；不可变，可作字典键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str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拼接 O(n+m)；切片 O(k)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dict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增删查平均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set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add / in / discard 平均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最常见的性能陷阱：用 list 判存在（O(n)），应改用 set / 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三个必须避开的写法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❌ O(n²)：list 判存在              # ✅ O(n)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seen = []                            seen = set()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x in data:                       for x in data: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x not in seen:                    if x not in seen: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seen.append(x)                       seen.add(x)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❌ O(n²)：循环拼接字符串           # ✅ O(total_len)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 = ''                               s = ''.join(words)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w in words: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 += w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❌ 三行是同一个列表对象！          # ✅ 正确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wrong = [[0] * m] * n                grid = [[0] * m for _ in range(n)]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这三个陷阱会贯穿整个学期，OJ 上的 TLE 大多源于此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上必须掌握的输入输出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n, m = map(int, input().split())            # 单行多个整数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list(map(int, input().split()))         # 一行整数变列表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data = sys.stdin.read().split()             # 大量输入：比 input() 快数倍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idx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int(data[idx]); idx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out = []                                    # 大量输出：先攒后打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x in ans: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out.append(str(x))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print('\n'.join(out))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sys.setrecursionlimit(1 &lt;&lt; 20)              # 深递归（W6/W8/W9 会用到）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这一页请抄进你的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常用标准库（贯穿全学期）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deque, defaultdict, Counter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heapq, bisect, itertools, math, sys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deque()                 # 双端队列，两端 O(1)          —— W5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defaultdict(list)       # 带默认值的字典，建邻接表利器  —— W12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Counter(s)              # 计数                          —— W15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heapq.heappush/heappop  # 小根堆                        —— W10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bisect.bisect_left      # 有序数组二分                  —— W6 / W10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math.inf                # 正无穷，最短路初始化用        —— W13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面向对象程序设计（OOP）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为什么数据结构课要讲 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数据结构 = 一坨数据 + 一组操作它的函数
类 = 属性 + 方法　——　两者完全同构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类的基本骨架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Node: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"""链表结点：数据结构中最基本的建筑材料。"""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__slots__ = ('value', 'next')       # 省内存、防拼写错（可选）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__init__(self, value, nxt=None):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self.value = value              # self 是实例本身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self.next = nxt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__repr__(self):                 # 面向开发者（调试打印）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f"Node({self.value!r})"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常用魔术方法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429"/>
                <a:gridCol w="586340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魔术方法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触发场景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__init__ / __repr__ / __str__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构造 / 打印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__len__ / __getitem__ / __contains__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len(obj) / obj[i] / x in obj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__iter__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for x in obj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__eq__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== （重写后需同时给 __hash__ 才能放进 set）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__lt__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&lt; ，被 sorted 和 heapq 使用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__add__ / __sub__ / __mul__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+ - *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__lt__ 与堆、排序的配合（W10 会直接用到）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from functools import total_ordering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@total_ordering                 # 只写 __eq__ 和 __lt__，自动补全 &lt;= &gt; &gt;=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class Task: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def __init__(self, priority, name):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self.priority, self.name = priority, name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def __eq__(self, other):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return self.priority == other.priority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def __lt__(self, other):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return self.priority &lt; other.priority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h = []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for t in [Task(3, 'c'), Task(1, 'a'), Task(2, 'b')]: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heapq.heappush(h, t)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print(heapq.heappop(h))         # Task(1, 'a')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例题精讲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例1　OJ 27653 Fraction 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import math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class Fraction: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def __init__(self, num, den):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if den == 0: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raise ZeroDivisionError("分母不能为 0")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if den &lt; 0:                       # 规范化：负号放到分子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num, den = -num, -den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g = math.gcd(abs(num), den)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if g: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num, den = num // g, den // g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self.num, self.den = num, den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def __add__(self, other):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return Fraction(self.num * other.den + other.num * self.den,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            self.den * other.den)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def __str__(self):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return f"{self.num}/{self.den}"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a, b, c, d = map(int, input().split())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print(Fraction(a, b) + Fraction(c, d))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要点：构造器里完成约分与符号规范化 —— 保证对象始终处于合法状态（类不变式）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例2　LC 155 最小栈：O(1) 取最小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MinStack: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self._data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self._mins = []          # _mins[i] = _data[:i+1] 的最小值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push(self, val: int) -&gt;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self._data.append(val)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self._mins.append(val if not self._mins else min(val, self._mins[-1]))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pop(self) -&gt;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self._data.pop()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self._mins.pop()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getMin(self) -&gt; int: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self._mins[-1]        # O(1)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思维方式：查询太慢时，考虑在“修改的时候顺手维护”额外信息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贯穿全课程的两个思想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① 用空间换时间　　② 在修改时顺手维护信息，让查询变快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196"/>
                <a:gridCol w="3240392"/>
                <a:gridCol w="2288527"/>
                <a:gridCol w="390872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Fraction 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27653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类、运算符重载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两数之和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dict 哈希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最小栈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155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ADT 设计、辅助结构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有效的括号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栈（为第 4 周预热）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只出现一次的数字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136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位运算 / set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数据结构 = 逻辑结构 + 存储结构 + 运算；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同一逻辑结构可有多种存储结构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ADT 把接口与实现分离，是本课程组织所有数据结构的统一框架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的 list / dict / set 各有复杂度特征，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选错容器就会超时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用类实现 ADT：__init__ 建立不变式，魔术方法提供自然语法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：如何定量地说“这个实现比那个快”？—— 大 O 与复杂度分析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